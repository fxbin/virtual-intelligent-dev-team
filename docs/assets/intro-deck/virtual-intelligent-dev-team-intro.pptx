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37215" y="3657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9B4DCA"/>
          </a:solidFill>
          <a:ln w="127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v5.7.6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1295" y="365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0CED1"/>
          </a:solidFill>
          <a:ln w="12700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MIT License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45375" y="365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1493"/>
          </a:solidFill>
          <a:ln w="127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Production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99455" y="365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0CED1"/>
          </a:solidFill>
          <a:ln w="12700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Router Archetype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Helvetica"/>
              </a:rPr>
              <a:t>Virtual Intelligent Dev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B5FD"/>
                </a:solidFill>
                <a:latin typeface="PingFang SC"/>
              </a:rPr>
              <a:t>面向复杂软件工作的闭环协调层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B6FC0"/>
                </a:solidFill>
                <a:latin typeface="PingFang SC"/>
              </a:rPr>
              <a:t>把专家路由 · 计划 · 执行 · 迭代 · Beta · Release · Feedback 收拢成一个可持续迭代的闭环工作流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744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9B4DCA"/>
                </a:solidFill>
                <a:latin typeface="Helvetica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74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6FC0"/>
                </a:solidFill>
                <a:latin typeface="Helvetica"/>
              </a:rPr>
              <a:t>SPECIALISTS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4458" y="4754880"/>
            <a:ext cx="1744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9B4DCA"/>
                </a:solidFill>
                <a:latin typeface="Helvetic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4458" y="5532120"/>
            <a:ext cx="174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6FC0"/>
                </a:solidFill>
                <a:latin typeface="Helvetica"/>
              </a:rPr>
              <a:t>CLOSURES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4754880"/>
            <a:ext cx="1744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9B4DCA"/>
                </a:solidFill>
                <a:latin typeface="Helvetica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5532120"/>
            <a:ext cx="174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6FC0"/>
                </a:solidFill>
                <a:latin typeface="Helvetica"/>
              </a:rPr>
              <a:t>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6094" y="4754880"/>
            <a:ext cx="1744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9B4DCA"/>
                </a:solidFill>
                <a:latin typeface="Helvetic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6094" y="5532120"/>
            <a:ext cx="174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6FC0"/>
                </a:solidFill>
                <a:latin typeface="Helvetica"/>
              </a:rPr>
              <a:t>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6FC0"/>
                </a:solidFill>
                <a:latin typeface="PingFang SC"/>
              </a:rPr>
              <a:t>github.com/fxbin/virtual-intelligent-dev-team  ·  v5.7.6  ·  MIT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PROBLEM · 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为什么需要</a:t>
            </a:r>
            <a:r>
              <a:rPr sz="3600" b="1">
                <a:solidFill>
                  <a:srgbClr val="9B4DCA"/>
                </a:solidFill>
                <a:latin typeface="PingFang SC"/>
              </a:rPr>
              <a:t>闭环协调层</a:t>
            </a:r>
            <a:r>
              <a:rPr sz="3600" b="1">
                <a:solidFill>
                  <a:srgbClr val="FFFFFF"/>
                </a:solidFill>
                <a:latin typeface="PingFang SC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普通多专家提示词在复杂软件任务中有三个结构性缺口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3600" b="1">
                <a:solidFill>
                  <a:srgbClr val="FF1493"/>
                </a:solidFill>
                <a:latin typeface="Helvetica"/>
              </a:rPr>
              <a:t>01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角色堆砌 ≠ 协同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平铺多个角色视角，没有判断谁主负责、谁协同、是否需要治理。复杂任务里'谁来 lead'比'有几个专家'更重要。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3600" b="1">
                <a:solidFill>
                  <a:srgbClr val="FF1493"/>
                </a:solidFill>
                <a:latin typeface="Helvetica"/>
              </a:rPr>
              <a:t>02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单轮回答 ≠ 闭环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只给建议，没有执行路径、恢复锚点和下一步。真实软件交付需要跨多轮、跨多天、可恢复的状态管理。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774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3600" b="1">
                <a:solidFill>
                  <a:srgbClr val="FF1493"/>
                </a:solidFill>
                <a:latin typeface="Helvetica"/>
              </a:rPr>
              <a:t>03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发布前判断 ≠ 全链路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只覆盖'能不能发'，缺少 beta、release gate、completion evidence、post-release feedback 的连续治理链路。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POSITIONING · 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不是角色扮演器，是</a:t>
            </a:r>
            <a:r>
              <a:rPr sz="3600" b="1">
                <a:solidFill>
                  <a:srgbClr val="9B4DCA"/>
                </a:solidFill>
                <a:latin typeface="PingFang SC"/>
              </a:rPr>
              <a:t>闭环协调层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从'换几个角色回答'升级到'打通复杂软件工作的关键链条'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4572000" cy="292608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8B6F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/>
            <a:r>
              <a:rPr sz="2800" b="1">
                <a:solidFill>
                  <a:srgbClr val="8B6FC0"/>
                </a:solidFill>
                <a:latin typeface="Helvetica"/>
              </a:rPr>
              <a:t>✕  </a:t>
            </a:r>
            <a:r>
              <a:rPr sz="2200" b="1">
                <a:solidFill>
                  <a:srgbClr val="8B6FC0"/>
                </a:solidFill>
                <a:latin typeface="Helvetica"/>
              </a:rPr>
              <a:t>Ordinary</a:t>
            </a:r>
          </a:p>
          <a:p>
            <a:pPr algn="l"/>
            <a:r>
              <a:rPr sz="1600" b="0">
                <a:solidFill>
                  <a:srgbClr val="C4B5FD"/>
                </a:solidFill>
                <a:latin typeface="PingFang SC"/>
              </a:rPr>
              <a:t>多专家提示词</a:t>
            </a:r>
          </a:p>
          <a:p>
            <a:pPr algn="l"/>
            <a:r>
              <a:rPr sz="1300" b="0">
                <a:solidFill>
                  <a:srgbClr val="8B6FC0"/>
                </a:solidFill>
                <a:latin typeface="PingFang SC"/>
              </a:rPr>
              <a:t>换几个角色视角回答问题</a:t>
            </a:r>
          </a:p>
          <a:p>
            <a:pPr algn="l"/>
            <a:r>
              <a:rPr sz="1300" b="0">
                <a:solidFill>
                  <a:srgbClr val="8B6FC0"/>
                </a:solidFill>
                <a:latin typeface="PingFang SC"/>
              </a:rPr>
              <a:t>单轮建议 · 无执行路径 · 无闭环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56616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9B4DCA"/>
                </a:solidFill>
                <a:latin typeface="Helvetic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468880"/>
            <a:ext cx="4572000" cy="292608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254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/>
            <a:r>
              <a:rPr sz="2800" b="1">
                <a:solidFill>
                  <a:srgbClr val="9B4DCA"/>
                </a:solidFill>
                <a:latin typeface="Helvetica"/>
              </a:rPr>
              <a:t>✦  </a:t>
            </a:r>
            <a:r>
              <a:rPr sz="2200" b="1">
                <a:solidFill>
                  <a:srgbClr val="FFFFFF"/>
                </a:solidFill>
                <a:latin typeface="Helvetica"/>
              </a:rPr>
              <a:t>Virtual Dev Team</a:t>
            </a:r>
          </a:p>
          <a:p>
            <a:pPr algn="l"/>
            <a:r>
              <a:rPr sz="1600" b="1">
                <a:solidFill>
                  <a:srgbClr val="9B4DCA"/>
                </a:solidFill>
                <a:latin typeface="PingFang SC"/>
              </a:rPr>
              <a:t>闭环协调层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路由 + 计划 + 执行 + 迭代 + Beta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Release + Feedback + 状态恢复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27080" cy="7315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400" b="1">
                <a:solidFill>
                  <a:srgbClr val="FF1493"/>
                </a:solidFill>
                <a:latin typeface="PingFang SC"/>
              </a:rPr>
              <a:t>一句话理解：</a:t>
            </a:r>
            <a:r>
              <a:rPr sz="1400" b="0">
                <a:solidFill>
                  <a:srgbClr val="FFFFFF"/>
                </a:solidFill>
                <a:latin typeface="PingFang SC"/>
              </a:rPr>
              <a:t>适合接手'单个专家已经不够、单轮回答也不够'的复杂软件任务。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ARCHITECTURE · 七层闭环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"/>
              </a:rPr>
              <a:t>Seven </a:t>
            </a:r>
            <a:r>
              <a:rPr sz="3600" b="1">
                <a:solidFill>
                  <a:srgbClr val="9B4DCA"/>
                </a:solidFill>
                <a:latin typeface="Helvetica"/>
              </a:rPr>
              <a:t>Closure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每层都有明确触发条件、核心机制和结构化产物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9B4DCA"/>
                </a:solidFill>
                <a:latin typeface="Helvetica"/>
              </a:rPr>
              <a:t>L1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规划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521822" cy="73152"/>
          </a:xfrm>
          <a:prstGeom prst="rect">
            <a:avLst/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3614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9B4DCA"/>
                </a:solidFill>
                <a:latin typeface="Helvetica"/>
              </a:rPr>
              <a:t>L2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路由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3614" y="2331720"/>
            <a:ext cx="1521822" cy="73152"/>
          </a:xfrm>
          <a:prstGeom prst="rect">
            <a:avLst/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8589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00CED1"/>
                </a:solidFill>
                <a:latin typeface="Helvetica"/>
              </a:rPr>
              <a:t>L3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交付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8589" y="2331720"/>
            <a:ext cx="1521822" cy="73152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33564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00CED1"/>
                </a:solidFill>
                <a:latin typeface="Helvetica"/>
              </a:rPr>
              <a:t>L4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迭代 Iteration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3564" y="2331720"/>
            <a:ext cx="1521822" cy="73152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28539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FF1493"/>
                </a:solidFill>
                <a:latin typeface="Helvetica"/>
              </a:rPr>
              <a:t>L5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发布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8539" y="2331720"/>
            <a:ext cx="1521822" cy="73152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23514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FF1493"/>
                </a:solidFill>
                <a:latin typeface="Helvetica"/>
              </a:rPr>
              <a:t>L6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演练 Drill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3514" y="2331720"/>
            <a:ext cx="1521822" cy="73152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18489" y="2331720"/>
            <a:ext cx="1521822" cy="9601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/>
          <a:lstStyle/>
          <a:p>
            <a:pPr algn="ctr"/>
            <a:r>
              <a:rPr sz="1800" b="1">
                <a:solidFill>
                  <a:srgbClr val="9B4DCA"/>
                </a:solidFill>
                <a:latin typeface="Helvetica"/>
              </a:rPr>
              <a:t>L7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PingFang SC"/>
              </a:rPr>
              <a:t>团队引擎 Team Engine 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8489" y="2331720"/>
            <a:ext cx="1521822" cy="73152"/>
          </a:xfrm>
          <a:prstGeom prst="rect">
            <a:avLst/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1600" b="1">
                <a:solidFill>
                  <a:srgbClr val="9B4DCA"/>
                </a:solidFill>
                <a:latin typeface="PingFang SC"/>
              </a:rPr>
              <a:t>L1-L2 · 入口层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规划与路由：判断任务形态，选择主负责人和最小 workflow bundle。模糊想法先做意图确认。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1600" b="1">
                <a:solidFill>
                  <a:srgbClr val="00CED1"/>
                </a:solidFill>
                <a:latin typeface="PingFang SC"/>
              </a:rPr>
              <a:t>L3-L4 · 执行层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交付与迭代：小切片保留 brief + context + status；优化循环有 baseline、round memory 和回滚决策。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576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1600" b="1">
                <a:solidFill>
                  <a:srgbClr val="FF1493"/>
                </a:solidFill>
                <a:latin typeface="PingFang SC"/>
              </a:rPr>
              <a:t>L5-L7 · 治理层</a:t>
            </a:r>
          </a:p>
          <a:p>
            <a:pPr algn="l"/>
            <a:r>
              <a:rPr sz="1300" b="0">
                <a:solidFill>
                  <a:srgbClr val="C4B5FD"/>
                </a:solidFill>
                <a:latin typeface="PingFang SC"/>
              </a:rPr>
              <a:t>发布、演练、团队引擎：ship/hold 门禁 + completion evidence；Worker/Verifier 分离验收。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AGENT ROSTER · 专家角色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"/>
              </a:rPr>
              <a:t>8 </a:t>
            </a:r>
            <a:r>
              <a:rPr sz="3600" b="1">
                <a:solidFill>
                  <a:srgbClr val="9B4DCA"/>
                </a:solidFill>
                <a:latin typeface="Helvetica"/>
              </a:rPr>
              <a:t>Specialist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覆盖从代码到产品、从架构到发布的完整软件交付链路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54203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JV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Java Virtuoso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JVM · Spring · Gradle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37744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9584" y="254203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6060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Sentinel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架构风险 · 高危治理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7744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254203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26060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Technical Trinity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通用后端 · 小切片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237744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62288" y="254203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26060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Code Audit Council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6" y="30175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安全审计 · 代码审查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23367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0C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GW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Git Workflow Guardian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分支策略 · 回滚保护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06908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9584" y="423367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World-Class Product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PRD · 用户研究 · 路线图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06908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5936" y="423367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5744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Data Pipeline Guardian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Kafka · Flink · 实时管道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06908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62288" y="4233672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9B4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4297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"/>
              </a:rPr>
              <a:t>API Contract Sentinel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PingFang SC"/>
              </a:rPr>
              <a:t>契约 · 兼容性 · 版本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双重定义：</a:t>
            </a:r>
            <a:r>
              <a:rPr sz="1200" b="0">
                <a:solidFill>
                  <a:srgbClr val="C4B5FD"/>
                </a:solidFill>
                <a:latin typeface="PingFang SC"/>
              </a:rPr>
              <a:t>每个 Agent 在 references/agent-catalog.md（叙述版）和 references/routing-rules.json（机器可读版）中同步声明 Constraints 与 Evidence Requirements。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CAPABILITY · 能力矩阵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"/>
              </a:rPr>
              <a:t>14 维度 </a:t>
            </a:r>
            <a:r>
              <a:rPr sz="3600" b="1">
                <a:solidFill>
                  <a:srgbClr val="9B4DCA"/>
                </a:solidFill>
                <a:latin typeface="PingFang SC"/>
              </a:rPr>
              <a:t>能力对比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本项目 vs 普通多专家提示词的结构性差异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1A1535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</a:rP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1A1535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1">
                <a:solidFill>
                  <a:srgbClr val="00CED1"/>
                </a:solidFill>
                <a:latin typeface="PingFang SC"/>
              </a:rPr>
              <a:t>本项目 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3867912" cy="457200"/>
          </a:xfrm>
          <a:prstGeom prst="roundRect">
            <a:avLst>
              <a:gd name="adj" fmla="val 6000"/>
            </a:avLst>
          </a:prstGeom>
          <a:solidFill>
            <a:srgbClr val="1A1535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1">
                <a:solidFill>
                  <a:srgbClr val="8B6FC0"/>
                </a:solidFill>
                <a:latin typeface="PingFang SC"/>
              </a:rPr>
              <a:t>普通方案 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任务路由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78892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选择主负责人、协同者、治理轨道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88920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平铺多个角色视角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55848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恢复能力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355848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状态优先恢复、resume、恢复锚点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355848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依赖上下文记忆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22776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迭代能力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922776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有边界的多轮优化、基线、回滚决策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922776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无限'再来一轮'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9704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发布治理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489704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release gate、completion evidence、修复入口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489704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'建议发/不发'或只看 benchmark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56632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上线后闭环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056632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post-release feedback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5056632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很少覆盖上线后反馈回写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Subagent runtime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623560"/>
            <a:ext cx="5029200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00CED1"/>
                </a:solidFill>
                <a:latin typeface="PingFang SC"/>
              </a:rPr>
              <a:t>受控计划 + 宿主 spawn/wait/merge 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5623560"/>
            <a:ext cx="3867912" cy="566928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角色扮演误称真实多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完整 14 维度对比见 matrix.html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ROUTING · 路由示例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5 个典型请求 </a:t>
            </a:r>
            <a:r>
              <a:rPr sz="3600" b="1">
                <a:solidFill>
                  <a:srgbClr val="9B4DCA"/>
                </a:solidFill>
                <a:latin typeface="PingFang SC"/>
              </a:rPr>
              <a:t>路由结果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基于任务形态、风险、技术栈自动路由到最小可辩护 workflow bundle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微服务架构拆分规划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548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8B6FC0"/>
                </a:solidFill>
                <a:latin typeface="Helvetic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377440"/>
            <a:ext cx="237744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>
                <a:solidFill>
                  <a:srgbClr val="9B4DCA"/>
                </a:solidFill>
                <a:latin typeface="Helvetica"/>
              </a:rPr>
              <a:t>Multi-Expert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377440"/>
            <a:ext cx="4507992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跨架构、产品、交付多领域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帮我重构这段 Python 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200400"/>
            <a:ext cx="548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8B6FC0"/>
                </a:solidFill>
                <a:latin typeface="Helvetic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00400"/>
            <a:ext cx="237744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>
                <a:solidFill>
                  <a:srgbClr val="00CED1"/>
                </a:solidFill>
                <a:latin typeface="Helvetica"/>
              </a:rPr>
              <a:t>Quick Slice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00400"/>
            <a:ext cx="4507992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Technical Trinity · 代码编辑需交付证据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设计 Kafka 实时数据管道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023360"/>
            <a:ext cx="548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8B6FC0"/>
                </a:solidFill>
                <a:latin typeface="Helvetic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023360"/>
            <a:ext cx="237744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>
                <a:solidFill>
                  <a:srgbClr val="9B4DCA"/>
                </a:solidFill>
                <a:latin typeface="Helvetica"/>
              </a:rPr>
              <a:t>Expert 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023360"/>
            <a:ext cx="4507992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Data Pipeline Guardian · 明确领域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发布这个版本到生产环境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46320"/>
            <a:ext cx="548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8B6FC0"/>
                </a:solidFill>
                <a:latin typeface="Helvetica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846320"/>
            <a:ext cx="237744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>
                <a:solidFill>
                  <a:srgbClr val="FF1493"/>
                </a:solidFill>
                <a:latin typeface="Helvetica"/>
              </a:rPr>
              <a:t>Full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846320"/>
            <a:ext cx="4507992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release gate + ship/hold 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365760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我想做一个用户画像功能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669280"/>
            <a:ext cx="5486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8B6FC0"/>
                </a:solidFill>
                <a:latin typeface="Helvetica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669280"/>
            <a:ext cx="2377440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>
                <a:solidFill>
                  <a:srgbClr val="00CED1"/>
                </a:solidFill>
                <a:latin typeface="Helvetica"/>
              </a:rPr>
              <a:t>Intent Confirm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669280"/>
            <a:ext cx="4507992" cy="713232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模糊想法先确认 5 个切入方向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QUICK START · 快速上手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3 种</a:t>
            </a:r>
            <a:r>
              <a:rPr sz="3600" b="1">
                <a:solidFill>
                  <a:srgbClr val="9B4DCA"/>
                </a:solidFill>
                <a:latin typeface="PingFang SC"/>
              </a:rPr>
              <a:t>调用方式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默认手动模式，显式 /auto 才进入自动运行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9050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CED1"/>
                </a:solidFill>
                <a:latin typeface="PingFang SC"/>
              </a:rPr>
              <a:t>① 手动模式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3154680" cy="822960"/>
          </a:xfrm>
          <a:prstGeom prst="rect">
            <a:avLst/>
          </a:prstGeom>
          <a:solidFill>
            <a:srgbClr val="0F0820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100" b="0">
                <a:solidFill>
                  <a:srgbClr val="00CED1"/>
                </a:solidFill>
                <a:latin typeface="Courier New"/>
              </a:rPr>
              <a:t>$virtual-intelligent-dev-team 帮我评估这次重构的最佳负责人和执行顺序。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高风险任务逐轮确认，输出 lead route + workflow bundle + resume anchor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905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9B4DCA"/>
                </a:solidFill>
                <a:latin typeface="PingFang SC"/>
              </a:rPr>
              <a:t>② /auto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154680"/>
            <a:ext cx="3154680" cy="822960"/>
          </a:xfrm>
          <a:prstGeom prst="rect">
            <a:avLst/>
          </a:prstGeom>
          <a:solidFill>
            <a:srgbClr val="0F0820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100" b="0">
                <a:solidFill>
                  <a:srgbClr val="00CED1"/>
                </a:solidFill>
                <a:latin typeface="Courier New"/>
              </a:rPr>
              <a:t>$virtual-intelligent-dev-team /auto setup 这个项目级迁移。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605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建立 automation state + 恢复锚点，为后续 go 或 resume 准备状态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7744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9050">
            <a:solidFill>
              <a:srgbClr val="00C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CED1"/>
                </a:solidFill>
                <a:latin typeface="PingFang SC"/>
              </a:rPr>
              <a:t>③ /auto 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154680"/>
            <a:ext cx="3154680" cy="822960"/>
          </a:xfrm>
          <a:prstGeom prst="rect">
            <a:avLst/>
          </a:prstGeom>
          <a:solidFill>
            <a:srgbClr val="0F0820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100" b="0">
                <a:solidFill>
                  <a:srgbClr val="00CED1"/>
                </a:solidFill>
                <a:latin typeface="Courier New"/>
              </a:rPr>
              <a:t>$virtual-intelligent-dev-team /auto go → 进入自动执行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有边界执行 + 状态优先恢复 + 保留 resume 锚点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300" b="1">
                <a:solidFill>
                  <a:srgbClr val="FF1493"/>
                </a:solidFill>
                <a:latin typeface="PingFang SC"/>
              </a:rPr>
              <a:t>设计原则：</a:t>
            </a:r>
            <a:r>
              <a:rPr sz="1300" b="0">
                <a:solidFill>
                  <a:srgbClr val="FFFFFF"/>
                </a:solidFill>
                <a:latin typeface="PingFang SC"/>
              </a:rPr>
              <a:t>自动化能力越强，越不能默认打开。默认 manual，只有显式 /auto 才进入自动运行，保持 setup → go 两阶段协议。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ECOSYSTEM · 生态集成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完整</a:t>
            </a:r>
            <a:r>
              <a:rPr sz="3600" b="1">
                <a:solidFill>
                  <a:srgbClr val="9B4DCA"/>
                </a:solidFill>
                <a:latin typeface="PingFang SC"/>
              </a:rPr>
              <a:t>生态覆盖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PingFang SC"/>
              </a:rPr>
              <a:t>从语言路由到工作流包到阶段专家团的完整集成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635758" cy="12801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/>
            <a:r>
              <a:rPr sz="4000" b="1">
                <a:solidFill>
                  <a:srgbClr val="9B4DCA"/>
                </a:solidFill>
                <a:latin typeface="Helvetica"/>
              </a:rPr>
              <a:t>13</a:t>
            </a:r>
          </a:p>
          <a:p>
            <a:pPr algn="ctr"/>
            <a:r>
              <a:rPr sz="1200" b="0">
                <a:solidFill>
                  <a:srgbClr val="C4B5FD"/>
                </a:solidFill>
                <a:latin typeface="Helvetica"/>
              </a:rPr>
              <a:t>Language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278" y="2331720"/>
            <a:ext cx="2635758" cy="12801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/>
            <a:r>
              <a:rPr sz="4000" b="1">
                <a:solidFill>
                  <a:srgbClr val="9B4DCA"/>
                </a:solidFill>
                <a:latin typeface="Helvetica"/>
              </a:rPr>
              <a:t>7</a:t>
            </a:r>
          </a:p>
          <a:p>
            <a:pPr algn="ctr"/>
            <a:r>
              <a:rPr sz="1200" b="0">
                <a:solidFill>
                  <a:srgbClr val="C4B5FD"/>
                </a:solidFill>
                <a:latin typeface="Helvetica"/>
              </a:rPr>
              <a:t>Workflow Bundles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2331720"/>
            <a:ext cx="2635758" cy="12801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/>
            <a:r>
              <a:rPr sz="4000" b="1">
                <a:solidFill>
                  <a:srgbClr val="9B4DCA"/>
                </a:solidFill>
                <a:latin typeface="Helvetica"/>
              </a:rPr>
              <a:t>8</a:t>
            </a:r>
          </a:p>
          <a:p>
            <a:pPr algn="ctr"/>
            <a:r>
              <a:rPr sz="1200" b="0">
                <a:solidFill>
                  <a:srgbClr val="C4B5FD"/>
                </a:solidFill>
                <a:latin typeface="Helvetica"/>
              </a:rPr>
              <a:t>Specialist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4554" y="2331720"/>
            <a:ext cx="2635758" cy="128016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27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37160"/>
          <a:lstStyle/>
          <a:p>
            <a:pPr algn="ctr"/>
            <a:r>
              <a:rPr sz="4000" b="1">
                <a:solidFill>
                  <a:srgbClr val="9B4DCA"/>
                </a:solidFill>
                <a:latin typeface="Helvetica"/>
              </a:rPr>
              <a:t>7</a:t>
            </a:r>
          </a:p>
          <a:p>
            <a:pPr algn="ctr"/>
            <a:r>
              <a:rPr sz="1200" b="0">
                <a:solidFill>
                  <a:srgbClr val="C4B5FD"/>
                </a:solidFill>
                <a:latin typeface="Helvetica"/>
              </a:rPr>
              <a:t>Closure 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1600" b="1">
                <a:solidFill>
                  <a:srgbClr val="9B4DCA"/>
                </a:solidFill>
                <a:latin typeface="PingFang SC"/>
              </a:rPr>
              <a:t>三层语言解耦</a:t>
            </a:r>
          </a:p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Routing（JSON）决定 lead agent</a:t>
            </a:r>
          </a:p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Context（YAML）注入生态默认值</a:t>
            </a:r>
          </a:p>
          <a:p>
            <a:pPr algn="l"/>
            <a:r>
              <a:rPr sz="1200" b="0">
                <a:solidFill>
                  <a:srgbClr val="C4B5FD"/>
                </a:solidFill>
                <a:latin typeface="PingFang SC"/>
              </a:rPr>
              <a:t>Constraints（YAML + Manifest）注入语言护栏</a:t>
            </a:r>
          </a:p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覆盖 python/go/nodejs/rust/java/kotlin/swift/cpp/csharp/php/ruby/elixir/scala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8620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13102A"/>
          </a:solidFill>
          <a:ln w="15875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/>
            <a:r>
              <a:rPr sz="1600" b="1">
                <a:solidFill>
                  <a:srgbClr val="9B4DCA"/>
                </a:solidFill>
                <a:latin typeface="Helvetica"/>
              </a:rPr>
              <a:t>Stage Council Overlay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product-discovery-council：</a:t>
            </a:r>
            <a:r>
              <a:rPr sz="1200" b="0">
                <a:solidFill>
                  <a:srgbClr val="C4B5FD"/>
                </a:solidFill>
                <a:latin typeface="PingFang SC"/>
              </a:rPr>
              <a:t>产品战略、PRD、用户研究、竞品、路线图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prototype-design-council：</a:t>
            </a:r>
            <a:r>
              <a:rPr sz="1200" b="0">
                <a:solidFill>
                  <a:srgbClr val="C4B5FD"/>
                </a:solidFill>
                <a:latin typeface="PingFang SC"/>
              </a:rPr>
              <a:t>高保真原型、设计系统、可访问性审查</a:t>
            </a:r>
          </a:p>
          <a:p>
            <a:pPr algn="l"/>
            <a:r>
              <a:rPr sz="1100" b="0">
                <a:solidFill>
                  <a:srgbClr val="8B6FC0"/>
                </a:solidFill>
                <a:latin typeface="PingFang SC"/>
              </a:rPr>
              <a:t>在 World-Class Product Architect 下按需展开，不替换顶层 lead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ED1"/>
                </a:solidFill>
                <a:latin typeface="PingFang SC"/>
              </a:rPr>
              <a:t>GET STARTED · 开始使用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B6FC0"/>
                </a:solidFill>
                <a:latin typeface="PingFang SC"/>
              </a:rP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10543032" cy="5029200"/>
          </a:xfrm>
          <a:prstGeom prst="roundRect">
            <a:avLst>
              <a:gd name="adj" fmla="val 6000"/>
            </a:avLst>
          </a:prstGeom>
          <a:solidFill>
            <a:srgbClr val="1A1535"/>
          </a:solidFill>
          <a:ln w="2540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96286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开始你的第一个闭环任务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7799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C4B5FD"/>
                </a:solidFill>
                <a:latin typeface="PingFang SC"/>
              </a:rPr>
              <a:t>适合接手'单个专家已经不够、单轮回答也不够'的复杂软件任务</a:t>
            </a:r>
          </a:p>
          <a:p>
            <a:pPr algn="ctr"/>
            <a:r>
              <a:rPr sz="1600" b="0">
                <a:solidFill>
                  <a:srgbClr val="C4B5FD"/>
                </a:solidFill>
                <a:latin typeface="PingFang SC"/>
              </a:rPr>
              <a:t>从手动模式开始，按需进入 /auto 自动运行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0383" y="3931920"/>
            <a:ext cx="3236976" cy="457200"/>
          </a:xfrm>
          <a:prstGeom prst="roundRect">
            <a:avLst>
              <a:gd name="adj" fmla="val 30000"/>
            </a:avLst>
          </a:prstGeom>
          <a:solidFill>
            <a:srgbClr val="9B4DCA"/>
          </a:solidFill>
          <a:ln w="1905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★ GitHub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519" y="3931920"/>
            <a:ext cx="1042416" cy="457200"/>
          </a:xfrm>
          <a:prstGeom prst="roundRect">
            <a:avLst>
              <a:gd name="adj" fmla="val 30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返回首页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4095" y="3931920"/>
            <a:ext cx="1335024" cy="457200"/>
          </a:xfrm>
          <a:prstGeom prst="roundRect">
            <a:avLst>
              <a:gd name="adj" fmla="val 30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七层闭环架构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6279" y="3931920"/>
            <a:ext cx="2212848" cy="457200"/>
          </a:xfrm>
          <a:prstGeom prst="roundRect">
            <a:avLst>
              <a:gd name="adj" fmla="val 30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8 个 Agent 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6287" y="3931920"/>
            <a:ext cx="1335024" cy="457200"/>
          </a:xfrm>
          <a:prstGeom prst="roundRect">
            <a:avLst>
              <a:gd name="adj" fmla="val 30000"/>
            </a:avLst>
          </a:prstGeom>
          <a:solidFill>
            <a:srgbClr val="13102A"/>
          </a:solidFill>
          <a:ln w="12700">
            <a:solidFill>
              <a:srgbClr val="2A1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0">
                <a:solidFill>
                  <a:srgbClr val="C4B5FD"/>
                </a:solidFill>
                <a:latin typeface="PingFang SC"/>
              </a:rPr>
              <a:t>能力矩阵对比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846320"/>
            <a:ext cx="77998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8B6FC0"/>
                </a:solidFill>
                <a:latin typeface="PingFang SC"/>
              </a:rPr>
              <a:t>Virtual Intelligent Dev Team · v5.7.6 · MIT License</a:t>
            </a:r>
          </a:p>
          <a:p>
            <a:pPr algn="ctr"/>
            <a:r>
              <a:rPr sz="1300" b="0">
                <a:solidFill>
                  <a:srgbClr val="00CED1"/>
                </a:solidFill>
                <a:latin typeface="Helvetica"/>
              </a:rPr>
              <a:t>github.com/fxbin/virtual-intelligent-dev-team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